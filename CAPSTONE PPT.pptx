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0" r:id="rId17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9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371600" y="3188970"/>
            <a:ext cx="15544800" cy="21602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743200" y="5760720"/>
            <a:ext cx="12801600" cy="257175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14400" y="2366010"/>
            <a:ext cx="7955282" cy="678942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721671" y="2106989"/>
            <a:ext cx="15772416" cy="1554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289299" y="3154040"/>
            <a:ext cx="15709902" cy="5875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106628" y="9566909"/>
            <a:ext cx="266974" cy="279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object 2"/>
          <p:cNvSpPr txBox="1">
            <a:spLocks noGrp="1"/>
          </p:cNvSpPr>
          <p:nvPr>
            <p:ph type="title"/>
          </p:nvPr>
        </p:nvSpPr>
        <p:spPr>
          <a:xfrm>
            <a:off x="587967" y="2677629"/>
            <a:ext cx="16464900" cy="1625601"/>
          </a:xfrm>
          <a:prstGeom prst="rect">
            <a:avLst/>
          </a:prstGeom>
        </p:spPr>
        <p:txBody>
          <a:bodyPr/>
          <a:lstStyle>
            <a:lvl1pPr marL="670152" marR="4927" indent="381275" defTabSz="886968">
              <a:lnSpc>
                <a:spcPct val="115900"/>
              </a:lnSpc>
              <a:defRPr sz="3977" b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Design and Evaluation of a Retrieval-Augmented Generation System for Question Answering over Course Materials</a:t>
            </a:r>
          </a:p>
        </p:txBody>
      </p:sp>
      <p:sp>
        <p:nvSpPr>
          <p:cNvPr id="65" name="object 3"/>
          <p:cNvSpPr txBox="1"/>
          <p:nvPr/>
        </p:nvSpPr>
        <p:spPr>
          <a:xfrm>
            <a:off x="11467772" y="5969012"/>
            <a:ext cx="6032502" cy="251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3500" spc="-245">
                <a:latin typeface="Arial Black"/>
                <a:ea typeface="Arial Black"/>
                <a:cs typeface="Arial Black"/>
                <a:sym typeface="Arial Black"/>
              </a:defRPr>
            </a:pPr>
            <a:r>
              <a:t>Presented</a:t>
            </a:r>
            <a:r>
              <a:rPr spc="-275"/>
              <a:t> </a:t>
            </a:r>
            <a:r>
              <a:rPr spc="-25"/>
              <a:t>by:</a:t>
            </a:r>
          </a:p>
          <a:p>
            <a:pPr indent="12700">
              <a:spcBef>
                <a:spcPts val="100"/>
              </a:spcBef>
              <a:defRPr sz="3500" spc="-245">
                <a:latin typeface="Arial Black"/>
                <a:ea typeface="Arial Black"/>
                <a:cs typeface="Arial Black"/>
                <a:sym typeface="Arial Black"/>
              </a:defRPr>
            </a:pPr>
            <a:endParaRPr spc="-25"/>
          </a:p>
          <a:p>
            <a:pPr marR="5080" indent="749934">
              <a:lnSpc>
                <a:spcPct val="158700"/>
              </a:lnSpc>
              <a:spcBef>
                <a:spcPts val="200"/>
              </a:spcBef>
              <a:defRPr sz="3000" spc="-215">
                <a:latin typeface="Verdana"/>
                <a:ea typeface="Verdana"/>
                <a:cs typeface="Verdana"/>
                <a:sym typeface="Verdana"/>
              </a:defRPr>
            </a:pPr>
            <a:r>
              <a:t>N.R.YASASWINI</a:t>
            </a:r>
            <a:r>
              <a:rPr spc="-200"/>
              <a:t> </a:t>
            </a:r>
            <a:r>
              <a:rPr spc="-270"/>
              <a:t>(192425119) </a:t>
            </a:r>
            <a:endParaRPr spc="-135"/>
          </a:p>
          <a:p>
            <a:pPr marR="5080" indent="749934">
              <a:lnSpc>
                <a:spcPct val="158700"/>
              </a:lnSpc>
              <a:spcBef>
                <a:spcPts val="200"/>
              </a:spcBef>
              <a:defRPr sz="3000" spc="-215">
                <a:latin typeface="Verdana"/>
                <a:ea typeface="Verdana"/>
                <a:cs typeface="Verdana"/>
                <a:sym typeface="Verdana"/>
              </a:defRPr>
            </a:pPr>
            <a:r>
              <a:rPr spc="-135"/>
              <a:t>B.VANI(192472348)</a:t>
            </a:r>
          </a:p>
        </p:txBody>
      </p:sp>
      <p:sp>
        <p:nvSpPr>
          <p:cNvPr id="66" name="object 4"/>
          <p:cNvSpPr txBox="1"/>
          <p:nvPr/>
        </p:nvSpPr>
        <p:spPr>
          <a:xfrm>
            <a:off x="1287923" y="5748895"/>
            <a:ext cx="6032503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3500" spc="-200">
                <a:latin typeface="Arial Black"/>
                <a:ea typeface="Arial Black"/>
                <a:cs typeface="Arial Black"/>
                <a:sym typeface="Arial Black"/>
              </a:defRPr>
            </a:pPr>
            <a:r>
              <a:t>Guided</a:t>
            </a:r>
            <a:r>
              <a:rPr spc="-300"/>
              <a:t> </a:t>
            </a:r>
            <a:r>
              <a:rPr spc="-25"/>
              <a:t>By</a:t>
            </a:r>
          </a:p>
          <a:p>
            <a:pPr indent="735330" algn="ctr">
              <a:spcBef>
                <a:spcPts val="4200"/>
              </a:spcBef>
              <a:defRPr sz="3000" spc="-45">
                <a:latin typeface="Verdana"/>
                <a:ea typeface="Verdana"/>
                <a:cs typeface="Verdana"/>
                <a:sym typeface="Verdana"/>
              </a:defRPr>
            </a:pPr>
            <a:r>
              <a:t>Dr</a:t>
            </a:r>
            <a:r>
              <a:rPr spc="-315"/>
              <a:t> </a:t>
            </a:r>
            <a:r>
              <a:rPr spc="175"/>
              <a:t>T Kumaragurubaran</a:t>
            </a:r>
          </a:p>
        </p:txBody>
      </p:sp>
      <p:pic>
        <p:nvPicPr>
          <p:cNvPr id="67" name="object 5" descr="object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9" y="148405"/>
            <a:ext cx="1597891" cy="203835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object 6" descr="object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3291" y="176980"/>
            <a:ext cx="1943101" cy="1981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object 3"/>
          <p:cNvSpPr txBox="1"/>
          <p:nvPr/>
        </p:nvSpPr>
        <p:spPr>
          <a:xfrm>
            <a:off x="1320104" y="3079291"/>
            <a:ext cx="15354303" cy="4128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Retrieval-Augmented Generation (RAG) combines information retrieval and Large Language Models (LLMs) for question answering.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system retrieves relevant information from course materials such as PDFs, notes, and textbooks.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Retrieved content is provided to the language model to generate accurate and context-based answers.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helps students quickly find relevant information without manually searching through large study materials.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system can improve learning efficiency, accessibility, and personalized academic support.</a:t>
            </a:r>
          </a:p>
        </p:txBody>
      </p:sp>
      <p:pic>
        <p:nvPicPr>
          <p:cNvPr id="71" name="object 9" descr="object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3291" y="176980"/>
            <a:ext cx="1943101" cy="1981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object 10" descr="object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08" y="176980"/>
            <a:ext cx="1560947" cy="1981201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object 11"/>
          <p:cNvSpPr txBox="1">
            <a:spLocks noGrp="1"/>
          </p:cNvSpPr>
          <p:nvPr>
            <p:ph type="title"/>
          </p:nvPr>
        </p:nvSpPr>
        <p:spPr>
          <a:xfrm>
            <a:off x="3170753" y="584516"/>
            <a:ext cx="17982464" cy="1554685"/>
          </a:xfrm>
          <a:prstGeom prst="rect">
            <a:avLst/>
          </a:prstGeom>
        </p:spPr>
        <p:txBody>
          <a:bodyPr/>
          <a:lstStyle/>
          <a:p>
            <a:pPr indent="771525">
              <a:spcBef>
                <a:spcPts val="100"/>
              </a:spcBef>
              <a:defRPr sz="4700" spc="-500">
                <a:latin typeface="Arial Rounded MT Bold"/>
                <a:ea typeface="Arial Rounded MT Bold"/>
                <a:cs typeface="Arial Rounded MT Bold"/>
                <a:sym typeface="Arial Rounded MT Bold"/>
              </a:defRPr>
            </a:pPr>
            <a:r>
              <a:t>                                   </a:t>
            </a:r>
            <a:r>
              <a:rPr sz="5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bject 3"/>
          <p:cNvSpPr txBox="1">
            <a:spLocks noGrp="1"/>
          </p:cNvSpPr>
          <p:nvPr>
            <p:ph type="title"/>
          </p:nvPr>
        </p:nvSpPr>
        <p:spPr>
          <a:xfrm>
            <a:off x="5189476" y="643464"/>
            <a:ext cx="8721692" cy="66548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indent="9932" defTabSz="715152">
              <a:defRPr sz="4653" b="1" spc="-3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       LITERATURE  SURVEY</a:t>
            </a:r>
          </a:p>
        </p:txBody>
      </p:sp>
      <p:pic>
        <p:nvPicPr>
          <p:cNvPr id="76" name="object 4" descr="object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31" y="176104"/>
            <a:ext cx="1256147" cy="1600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7" name="object 5" descr="objec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5973" y="176980"/>
            <a:ext cx="1571626" cy="1600201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78" name="Table 1"/>
          <p:cNvGraphicFramePr/>
          <p:nvPr/>
        </p:nvGraphicFramePr>
        <p:xfrm>
          <a:off x="2021482" y="1933355"/>
          <a:ext cx="14690817" cy="7980505"/>
        </p:xfrm>
        <a:graphic>
          <a:graphicData uri="http://schemas.openxmlformats.org/drawingml/2006/table">
            <a:tbl>
              <a:tblPr firstRow="1" firstCol="1" bandRow="1">
                <a:tableStyleId>{C7B018BB-80A7-4F77-B60F-C8B233D01FF8}</a:tableStyleId>
              </a:tblPr>
              <a:tblGrid>
                <a:gridCol w="3150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6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2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96101">
                <a:tc>
                  <a:txBody>
                    <a:bodyPr/>
                    <a:lstStyle/>
                    <a:p>
                      <a:pPr algn="ct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5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
Author &amp; Year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29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  <a:p>
                      <a:pPr algn="ctr" defTabSz="457200">
                        <a:defRPr sz="29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Focus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 </a:t>
                      </a:r>
                    </a:p>
                    <a:p>
                      <a:pPr algn="ctr" defTabSz="457200">
                        <a:defRPr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    Key Findings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5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
Gaps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6101">
                <a:tc>
                  <a:txBody>
                    <a:bodyPr/>
                    <a:lstStyle/>
                    <a:p>
                      <a:pPr algn="ct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Wang et al. (2024)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457200"/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RAG Techniques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Improved retrieval and answer quality.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Retrieval efficiency needs improvement.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6101">
                <a:tc>
                  <a:txBody>
                    <a:bodyPr/>
                    <a:lstStyle/>
                    <a:p>
                      <a:pPr algn="ct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Alawwad et al. (2025)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457200"/>
                      <a:r>
                        <a:rPr sz="25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Textbook QA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RAG improves answers from large course materials.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Long-context reasoning remains challenging.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6101">
                <a:tc>
                  <a:txBody>
                    <a:bodyPr/>
                    <a:lstStyle/>
                    <a:p>
                      <a:pPr algn="ct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 et al. (2025)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457200"/>
                      <a:r>
                        <a:rPr sz="25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RAG in Education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457200"/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Supports interactive learning and assessment.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Hallucination and retrieval gaps remain.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6101">
                <a:tc>
                  <a:txBody>
                    <a:bodyPr/>
                    <a:lstStyle/>
                    <a:p>
                      <a:pPr algn="ct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Guan et al. (2026)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Educational RAG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Improved relevance and grounding in course content.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Better retrieval and evaluation are needed.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object 4"/>
          <p:cNvSpPr txBox="1"/>
          <p:nvPr/>
        </p:nvSpPr>
        <p:spPr>
          <a:xfrm>
            <a:off x="1361440" y="3018847"/>
            <a:ext cx="15565120" cy="3507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457200" indent="-317500" algn="just" defTabSz="457200">
              <a:lnSpc>
                <a:spcPct val="150000"/>
              </a:lnSpc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Students often need to search through large volumes of course materials to find answers.</a:t>
            </a:r>
          </a:p>
          <a:p>
            <a:pPr marL="457200" indent="-317500" algn="just" defTabSz="457200">
              <a:lnSpc>
                <a:spcPct val="150000"/>
              </a:lnSpc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Traditional keyword-based search may return information that is irrelevant or incomplete.</a:t>
            </a:r>
          </a:p>
          <a:p>
            <a:pPr marL="457200" indent="-317500" algn="just" defTabSz="457200">
              <a:lnSpc>
                <a:spcPct val="150000"/>
              </a:lnSpc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General-purpose AI models may generate answers that are not based on the student's actual course content.</a:t>
            </a:r>
          </a:p>
          <a:p>
            <a:pPr marL="457200" indent="-317500" algn="just" defTabSz="457200">
              <a:lnSpc>
                <a:spcPct val="150000"/>
              </a:lnSpc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LLMs can sometimes produce hallucinated or factually incorrect information.</a:t>
            </a:r>
          </a:p>
          <a:p>
            <a:pPr marL="457200" indent="-317500" algn="just" defTabSz="457200">
              <a:lnSpc>
                <a:spcPct val="150000"/>
              </a:lnSpc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Therefore, there is a need for a system that provides relevant, reliable, and course-specific answers.</a:t>
            </a:r>
          </a:p>
        </p:txBody>
      </p:sp>
      <p:pic>
        <p:nvPicPr>
          <p:cNvPr id="81" name="object 10" descr="object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08" y="176980"/>
            <a:ext cx="1477820" cy="1876426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object 11" descr="object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3291" y="176980"/>
            <a:ext cx="1838326" cy="1876426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PROBLEM STATEMENT"/>
          <p:cNvSpPr txBox="1"/>
          <p:nvPr/>
        </p:nvSpPr>
        <p:spPr>
          <a:xfrm>
            <a:off x="5078537" y="944972"/>
            <a:ext cx="8542354" cy="751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   PROBLEM STATEMENT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 txBox="1">
            <a:spLocks noGrp="1"/>
          </p:cNvSpPr>
          <p:nvPr>
            <p:ph type="title"/>
          </p:nvPr>
        </p:nvSpPr>
        <p:spPr>
          <a:xfrm>
            <a:off x="6580031" y="730064"/>
            <a:ext cx="4749587" cy="66548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indent="12573" defTabSz="452627">
              <a:defRPr sz="4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   OBJECTIVE</a:t>
            </a:r>
          </a:p>
        </p:txBody>
      </p:sp>
      <p:sp>
        <p:nvSpPr>
          <p:cNvPr id="86" name="object 4"/>
          <p:cNvSpPr txBox="1">
            <a:spLocks noGrp="1"/>
          </p:cNvSpPr>
          <p:nvPr>
            <p:ph type="body" idx="1"/>
          </p:nvPr>
        </p:nvSpPr>
        <p:spPr>
          <a:xfrm>
            <a:off x="1135748" y="2921598"/>
            <a:ext cx="16725576" cy="6364266"/>
          </a:xfrm>
          <a:prstGeom prst="rect">
            <a:avLst/>
          </a:prstGeom>
        </p:spPr>
        <p:txBody>
          <a:bodyPr/>
          <a:lstStyle/>
          <a:p>
            <a:pPr marL="320842" indent="-320842" algn="just" defTabSz="457200">
              <a:lnSpc>
                <a:spcPct val="150000"/>
              </a:lnSpc>
              <a:buSzPct val="100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design a course-specific RAG-based Question Answering system.</a:t>
            </a:r>
          </a:p>
          <a:p>
            <a:pPr marL="320842" indent="-320842" algn="just" defTabSz="457200">
              <a:lnSpc>
                <a:spcPct val="150000"/>
              </a:lnSpc>
              <a:buSzPct val="100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efficiently retrieve relevant information from large course documents.</a:t>
            </a:r>
          </a:p>
          <a:p>
            <a:pPr marL="320842" indent="-320842" algn="just" defTabSz="457200">
              <a:lnSpc>
                <a:spcPct val="150000"/>
              </a:lnSpc>
              <a:buSzPct val="100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generate accurate and context-aware answers using retrieved content.</a:t>
            </a:r>
          </a:p>
          <a:p>
            <a:pPr marL="320842" indent="-320842" algn="just" defTabSz="457200">
              <a:lnSpc>
                <a:spcPct val="150000"/>
              </a:lnSpc>
              <a:buSzPct val="100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reduce hallucinations by grounding responses in the provided materials.</a:t>
            </a:r>
          </a:p>
          <a:p>
            <a:pPr marL="320842" indent="-320842" algn="just" defTabSz="457200">
              <a:lnSpc>
                <a:spcPct val="150000"/>
              </a:lnSpc>
              <a:buSzPct val="100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improve the speed and convenience of accessing educational information.</a:t>
            </a:r>
          </a:p>
          <a:p>
            <a:pPr marL="320842" indent="-320842" algn="just" defTabSz="457200">
              <a:lnSpc>
                <a:spcPct val="150000"/>
              </a:lnSpc>
              <a:buSzPct val="100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evaluate the system's performance using suitable retrieval and generation metrics.</a:t>
            </a:r>
          </a:p>
        </p:txBody>
      </p:sp>
      <p:pic>
        <p:nvPicPr>
          <p:cNvPr id="87" name="object 11" descr="object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08" y="176980"/>
            <a:ext cx="1394690" cy="1771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object 12" descr="object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3291" y="176980"/>
            <a:ext cx="1733551" cy="17716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object 6"/>
          <p:cNvSpPr txBox="1"/>
          <p:nvPr/>
        </p:nvSpPr>
        <p:spPr>
          <a:xfrm>
            <a:off x="1504950" y="2780282"/>
            <a:ext cx="15278102" cy="4892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300789" indent="-300789" algn="just" defTabSz="457200">
              <a:lnSpc>
                <a:spcPct val="150000"/>
              </a:lnSpc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Manual document search</a:t>
            </a:r>
            <a:r>
              <a:t> – Students read and search through PDFs, notes, and textbooks manually.</a:t>
            </a:r>
          </a:p>
          <a:p>
            <a:pPr marL="300789" indent="-300789" algn="just" defTabSz="457200">
              <a:lnSpc>
                <a:spcPct val="150000"/>
              </a:lnSpc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Keyword-based search</a:t>
            </a:r>
            <a:r>
              <a:t> – Finds documents or passages containing specific keywords but may lack contextual understanding.</a:t>
            </a:r>
          </a:p>
          <a:p>
            <a:pPr marL="300789" indent="-300789" algn="just" defTabSz="457200">
              <a:lnSpc>
                <a:spcPct val="150000"/>
              </a:lnSpc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Traditional Question Answering systems</a:t>
            </a:r>
            <a:r>
              <a:t> – Provide answers from predefined datasets but have limited flexibility.</a:t>
            </a:r>
          </a:p>
          <a:p>
            <a:pPr marL="300789" indent="-300789" algn="just" defTabSz="457200">
              <a:lnSpc>
                <a:spcPct val="150000"/>
              </a:lnSpc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General-purpose Chatbots/LLMs</a:t>
            </a:r>
            <a:r>
              <a:t> – Generate natural-language answers but may not be grounded in specific course materials.</a:t>
            </a:r>
          </a:p>
        </p:txBody>
      </p:sp>
      <p:sp>
        <p:nvSpPr>
          <p:cNvPr id="91" name="object 10"/>
          <p:cNvSpPr txBox="1">
            <a:spLocks noGrp="1"/>
          </p:cNvSpPr>
          <p:nvPr>
            <p:ph type="title"/>
          </p:nvPr>
        </p:nvSpPr>
        <p:spPr>
          <a:xfrm>
            <a:off x="3898085" y="865777"/>
            <a:ext cx="8693468" cy="66548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indent="12573" defTabSz="452627">
              <a:defRPr sz="4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      EXISTING</a:t>
            </a:r>
            <a:r>
              <a:rPr spc="-500"/>
              <a:t> </a:t>
            </a:r>
            <a:r>
              <a:t>SYSTEM</a:t>
            </a:r>
          </a:p>
        </p:txBody>
      </p:sp>
      <p:pic>
        <p:nvPicPr>
          <p:cNvPr id="92" name="object 11" descr="object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08" y="176980"/>
            <a:ext cx="1496290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3" name="object 12" descr="object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3291" y="312693"/>
            <a:ext cx="1733551" cy="17716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bject 2"/>
          <p:cNvSpPr txBox="1">
            <a:spLocks noGrp="1"/>
          </p:cNvSpPr>
          <p:nvPr>
            <p:ph type="title"/>
          </p:nvPr>
        </p:nvSpPr>
        <p:spPr>
          <a:xfrm>
            <a:off x="4596479" y="871222"/>
            <a:ext cx="8744488" cy="66548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indent="12573" defTabSz="452627">
              <a:defRPr sz="4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PROPOSED </a:t>
            </a:r>
            <a:r>
              <a:rPr spc="-600"/>
              <a:t>SYSTEM</a:t>
            </a:r>
          </a:p>
        </p:txBody>
      </p:sp>
      <p:sp>
        <p:nvSpPr>
          <p:cNvPr id="96" name="object 4"/>
          <p:cNvSpPr txBox="1"/>
          <p:nvPr/>
        </p:nvSpPr>
        <p:spPr>
          <a:xfrm>
            <a:off x="1615401" y="2778847"/>
            <a:ext cx="15852142" cy="4128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Develop a </a:t>
            </a:r>
            <a:r>
              <a:rPr b="1"/>
              <a:t>RAG-based Question Answering system</a:t>
            </a:r>
            <a:r>
              <a:t> specifically for course materials.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Upload and process course documents such as </a:t>
            </a:r>
            <a:r>
              <a:rPr b="1"/>
              <a:t>PDFs, lecture notes, and study materials</a:t>
            </a:r>
            <a:r>
              <a:t>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Divide documents into smaller meaningful </a:t>
            </a:r>
            <a:r>
              <a:rPr b="1"/>
              <a:t>text chunks</a:t>
            </a:r>
            <a:r>
              <a:t>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Convert the chunks into </a:t>
            </a:r>
            <a:r>
              <a:rPr b="1"/>
              <a:t>vector embeddings</a:t>
            </a:r>
            <a:r>
              <a:t> and store them in a vector database.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Retrieve the most relevant content based on the user's question.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Provide the retrieved context to an </a:t>
            </a:r>
            <a:r>
              <a:rPr b="1"/>
              <a:t>LLM</a:t>
            </a:r>
            <a:r>
              <a:t> to generate a clear and relevant answer.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Evaluate the system based on retrieval accuracy, answer quality, relevance, and response time.</a:t>
            </a:r>
          </a:p>
        </p:txBody>
      </p:sp>
      <p:pic>
        <p:nvPicPr>
          <p:cNvPr id="97" name="object 9" descr="object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77943"/>
            <a:ext cx="1385454" cy="1771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object 10" descr="object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3291" y="176980"/>
            <a:ext cx="1733551" cy="17716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LGORITHM USED"/>
          <p:cNvSpPr txBox="1"/>
          <p:nvPr/>
        </p:nvSpPr>
        <p:spPr>
          <a:xfrm>
            <a:off x="6297749" y="597601"/>
            <a:ext cx="5692499" cy="751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457200">
              <a:defRPr sz="4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ALGORITHM USED</a:t>
            </a:r>
          </a:p>
        </p:txBody>
      </p:sp>
      <p:pic>
        <p:nvPicPr>
          <p:cNvPr id="101" name="object 9" descr="object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158" y="176980"/>
            <a:ext cx="1056523" cy="135103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object 10" descr="object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3291" y="176980"/>
            <a:ext cx="1733551" cy="1771651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ALGORITHM USED – RANDOM FOREST…"/>
          <p:cNvSpPr txBox="1"/>
          <p:nvPr/>
        </p:nvSpPr>
        <p:spPr>
          <a:xfrm>
            <a:off x="342899" y="1763486"/>
            <a:ext cx="17455243" cy="7362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algn="just" defTabSz="457200">
              <a:spcBef>
                <a:spcPts val="1400"/>
              </a:spcBef>
              <a:defRPr sz="26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sz="2900" b="1" dirty="0"/>
              <a:t>Viewed rag.py:1-481</a:t>
            </a:r>
          </a:p>
          <a:p>
            <a:pPr algn="just" defTabSz="457200">
              <a:spcBef>
                <a:spcPts val="1400"/>
              </a:spcBef>
              <a:defRPr sz="26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sz="2900" b="1" dirty="0"/>
              <a:t>Viewed ingest.py:1-80</a:t>
            </a:r>
          </a:p>
          <a:p>
            <a:pPr algn="just" defTabSz="457200">
              <a:spcBef>
                <a:spcPts val="1400"/>
              </a:spcBef>
              <a:defRPr sz="26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sz="2900" b="0" dirty="0"/>
              <a:t>Here are the </a:t>
            </a:r>
            <a:r>
              <a:rPr lang="en-IN" sz="2900" b="1" dirty="0"/>
              <a:t>algorithms and techniques used </a:t>
            </a:r>
            <a:r>
              <a:rPr lang="en-IN" sz="2900" b="0" dirty="0"/>
              <a:t>in this project:</a:t>
            </a:r>
          </a:p>
          <a:p>
            <a:pPr algn="just" defTabSz="457200">
              <a:spcBef>
                <a:spcPts val="1400"/>
              </a:spcBef>
              <a:defRPr sz="26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sz="2900" b="0" dirty="0"/>
              <a:t>1. </a:t>
            </a:r>
            <a:r>
              <a:rPr lang="en-IN" sz="2900" b="1" dirty="0"/>
              <a:t>BGE Embeddings (`BAAI/bge-small-en-v1.5`) </a:t>
            </a:r>
            <a:r>
              <a:rPr lang="en-IN" sz="2900" b="0" dirty="0"/>
              <a:t>— Dense vector embeddings for semantic similarity via </a:t>
            </a:r>
            <a:r>
              <a:rPr lang="en-IN" sz="2900" b="0" dirty="0" err="1"/>
              <a:t>SentenceTransformer</a:t>
            </a:r>
            <a:r>
              <a:rPr lang="en-IN" sz="2900" b="0" dirty="0"/>
              <a:t> (33M params)</a:t>
            </a:r>
          </a:p>
          <a:p>
            <a:pPr algn="just" defTabSz="457200">
              <a:spcBef>
                <a:spcPts val="1400"/>
              </a:spcBef>
              <a:defRPr sz="26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sz="2900" b="0" dirty="0"/>
              <a:t>2. </a:t>
            </a:r>
            <a:r>
              <a:rPr lang="en-IN" sz="2900" b="1" dirty="0"/>
              <a:t>Cosine Similarity Search </a:t>
            </a:r>
            <a:r>
              <a:rPr lang="en-IN" sz="2900" b="0" dirty="0"/>
              <a:t>— </a:t>
            </a:r>
            <a:r>
              <a:rPr lang="en-IN" sz="2900" b="0" dirty="0" err="1"/>
              <a:t>ChromaDB</a:t>
            </a:r>
            <a:r>
              <a:rPr lang="en-IN" sz="2900" b="0" dirty="0"/>
              <a:t> vector store retrieves top-K chunks by cosine distance against the query embedding</a:t>
            </a:r>
          </a:p>
          <a:p>
            <a:pPr algn="just" defTabSz="457200">
              <a:spcBef>
                <a:spcPts val="1400"/>
              </a:spcBef>
              <a:defRPr sz="26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sz="2900" b="0" dirty="0"/>
              <a:t>3. </a:t>
            </a:r>
            <a:r>
              <a:rPr lang="en-IN" sz="2900" b="1" dirty="0"/>
              <a:t>Query Expansion </a:t>
            </a:r>
            <a:r>
              <a:rPr lang="en-IN" sz="2900" b="0" dirty="0"/>
              <a:t>— An LLM rewrites the user question into 2 alternate phrasings to improve recall</a:t>
            </a:r>
          </a:p>
          <a:p>
            <a:pPr algn="just" defTabSz="457200">
              <a:spcBef>
                <a:spcPts val="1400"/>
              </a:spcBef>
              <a:defRPr sz="26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sz="2900" b="0" dirty="0"/>
              <a:t>4. </a:t>
            </a:r>
            <a:r>
              <a:rPr lang="en-IN" sz="2900" b="1" dirty="0"/>
              <a:t>BM25 Re-ranking (`BM25Okapi`) </a:t>
            </a:r>
            <a:r>
              <a:rPr lang="en-IN" sz="2900" b="0" dirty="0"/>
              <a:t>— Classic sparse keyword-matching algorithm re-scores the retrieved chunks; final ranking is a 60/40 </a:t>
            </a:r>
            <a:r>
              <a:rPr lang="en-IN" sz="2900" b="0" dirty="0" err="1"/>
              <a:t>blen</a:t>
            </a:r>
            <a:r>
              <a:rPr lang="en-IN" sz="2900" b="0" dirty="0"/>
              <a:t>* of semantic score + BM25 score</a:t>
            </a:r>
          </a:p>
          <a:p>
            <a:pPr algn="just" defTabSz="457200">
              <a:spcBef>
                <a:spcPts val="1400"/>
              </a:spcBef>
              <a:defRPr sz="26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sz="2900" dirty="0"/>
              <a:t>5</a:t>
            </a:r>
            <a:r>
              <a:rPr lang="en-IN" sz="2900" b="0" dirty="0"/>
              <a:t>. </a:t>
            </a:r>
            <a:r>
              <a:rPr lang="en-IN" sz="2900" b="1" dirty="0"/>
              <a:t>RAG (Retrieval-Augmented Generation) </a:t>
            </a:r>
            <a:r>
              <a:rPr lang="en-IN" sz="2900" b="0" dirty="0"/>
              <a:t>— The core pipeline: retrieve relevant chunks → inject as context → generate a grounded answer via LLM</a:t>
            </a:r>
          </a:p>
          <a:p>
            <a:pPr algn="just" defTabSz="457200">
              <a:spcBef>
                <a:spcPts val="1400"/>
              </a:spcBef>
              <a:defRPr sz="2600" b="1">
                <a:latin typeface="Times Roman"/>
                <a:ea typeface="Times Roman"/>
                <a:cs typeface="Times Roman"/>
                <a:sym typeface="Times Roman"/>
              </a:defRPr>
            </a:pPr>
            <a:endParaRPr lang="en-IN" sz="2900" b="0"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METHODOLOGY"/>
          <p:cNvSpPr txBox="1"/>
          <p:nvPr/>
        </p:nvSpPr>
        <p:spPr>
          <a:xfrm>
            <a:off x="6958761" y="207769"/>
            <a:ext cx="5045468" cy="751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457200">
              <a:defRPr sz="4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METHODOLOGY</a:t>
            </a:r>
          </a:p>
        </p:txBody>
      </p:sp>
      <p:pic>
        <p:nvPicPr>
          <p:cNvPr id="106" name="object 9" descr="object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31" y="266700"/>
            <a:ext cx="1385454" cy="1771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object 10" descr="object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2329" y="73825"/>
            <a:ext cx="1733551" cy="1771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E8923B-EFA9-5EFA-5788-1F43A98B1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66700"/>
            <a:ext cx="14352814" cy="97536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object 2" descr="objec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08" y="176980"/>
            <a:ext cx="1219201" cy="1552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object 3" descr="objec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3291" y="176980"/>
            <a:ext cx="1524001" cy="1552576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object 5"/>
          <p:cNvSpPr txBox="1">
            <a:spLocks noGrp="1"/>
          </p:cNvSpPr>
          <p:nvPr>
            <p:ph type="title"/>
          </p:nvPr>
        </p:nvSpPr>
        <p:spPr>
          <a:xfrm>
            <a:off x="7284670" y="748983"/>
            <a:ext cx="3718659" cy="843466"/>
          </a:xfrm>
          <a:prstGeom prst="rect">
            <a:avLst/>
          </a:prstGeom>
        </p:spPr>
        <p:txBody>
          <a:bodyPr/>
          <a:lstStyle/>
          <a:p>
            <a:pPr indent="12700" defTabSz="457200">
              <a:defRPr sz="4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MODULE</a:t>
            </a:r>
            <a:r>
              <a:rPr spc="-500"/>
              <a:t> </a:t>
            </a:r>
            <a:r>
              <a:rPr spc="-799"/>
              <a:t>1</a:t>
            </a:r>
          </a:p>
        </p:txBody>
      </p:sp>
      <p:sp>
        <p:nvSpPr>
          <p:cNvPr id="113" name="object 11"/>
          <p:cNvSpPr txBox="1"/>
          <p:nvPr/>
        </p:nvSpPr>
        <p:spPr>
          <a:xfrm>
            <a:off x="1281321" y="3406735"/>
            <a:ext cx="16880346" cy="3496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457200" indent="-317500" algn="just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Processes course materials such as PDFs, notes, and textbooks into a suitable format for retrieval.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Splits documents into smaller meaningful text chunks for efficient searching.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Converts the processed text into vector embeddings that capture the meaning of the content.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Retrieves the most relevant information based on the user's question.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Provides the retrieved content as context for generating accurate and course-specific answers.</a:t>
            </a:r>
          </a:p>
        </p:txBody>
      </p:sp>
      <p:sp>
        <p:nvSpPr>
          <p:cNvPr id="114" name="INTELLIGENT SENSOR DATA  ACQUISITION"/>
          <p:cNvSpPr txBox="1"/>
          <p:nvPr/>
        </p:nvSpPr>
        <p:spPr>
          <a:xfrm>
            <a:off x="3061245" y="1797026"/>
            <a:ext cx="13320499" cy="666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indent="12700" defTabSz="457200"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         Document Processing &amp; Retrieval Module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object 2" descr="objec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08" y="176980"/>
            <a:ext cx="1173020" cy="148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object 3" descr="objec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5743" y="176980"/>
            <a:ext cx="1457326" cy="1485901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object 5"/>
          <p:cNvSpPr txBox="1">
            <a:spLocks noGrp="1"/>
          </p:cNvSpPr>
          <p:nvPr>
            <p:ph type="title"/>
          </p:nvPr>
        </p:nvSpPr>
        <p:spPr>
          <a:xfrm>
            <a:off x="7190512" y="817424"/>
            <a:ext cx="3352147" cy="66548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indent="12319" defTabSz="443483">
              <a:defRPr sz="4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MODULE</a:t>
            </a:r>
            <a:r>
              <a:rPr spc="-500"/>
              <a:t> </a:t>
            </a:r>
            <a:r>
              <a:rPr spc="-699"/>
              <a:t>2</a:t>
            </a:r>
          </a:p>
        </p:txBody>
      </p:sp>
      <p:sp>
        <p:nvSpPr>
          <p:cNvPr id="119" name="object 11"/>
          <p:cNvSpPr txBox="1"/>
          <p:nvPr/>
        </p:nvSpPr>
        <p:spPr>
          <a:xfrm>
            <a:off x="1903447" y="3580962"/>
            <a:ext cx="17485725" cy="3496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457200" indent="-317500" algn="just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Generates answers based on the relevant content retrieved from the course materials.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Produces clear, accurate, and context-aware responses to user questions.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Evaluates answers based on accuracy, relevance, completeness, and coherence.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Grounds the generated answers in the provided course content to reduce hallucinations.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Uses evaluation results and user feedback to improve the overall answer quality.</a:t>
            </a:r>
          </a:p>
        </p:txBody>
      </p:sp>
      <p:sp>
        <p:nvSpPr>
          <p:cNvPr id="120" name="CLOUD-INTEGRATED DIGITAL TWIN  SYNCHRONIZATION"/>
          <p:cNvSpPr txBox="1"/>
          <p:nvPr/>
        </p:nvSpPr>
        <p:spPr>
          <a:xfrm>
            <a:off x="3436899" y="1937268"/>
            <a:ext cx="10183077" cy="666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indent="12700" defTabSz="457200"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       Answer Generation &amp; Evaluation Module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9" descr="object 9">
            <a:extLst>
              <a:ext uri="{FF2B5EF4-FFF2-40B4-BE49-F238E27FC236}">
                <a16:creationId xmlns:a16="http://schemas.microsoft.com/office/drawing/2014/main" id="{FB811CE2-8F65-9C0B-4822-BE6B69204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12" y="176980"/>
            <a:ext cx="1505529" cy="1924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object 10" descr="object 10">
            <a:extLst>
              <a:ext uri="{FF2B5EF4-FFF2-40B4-BE49-F238E27FC236}">
                <a16:creationId xmlns:a16="http://schemas.microsoft.com/office/drawing/2014/main" id="{2BACE42E-B994-8019-8503-362E9640B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3291" y="176980"/>
            <a:ext cx="1733551" cy="177165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4F6568-F80F-B2C3-284A-10D4A180FE60}"/>
              </a:ext>
            </a:extLst>
          </p:cNvPr>
          <p:cNvSpPr txBox="1"/>
          <p:nvPr/>
        </p:nvSpPr>
        <p:spPr>
          <a:xfrm>
            <a:off x="6155871" y="685800"/>
            <a:ext cx="5159829" cy="7232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41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IMPLEMENTATION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C5C1F5-D402-5F1D-CAF1-3A34A1F6D9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14" y="2481943"/>
            <a:ext cx="7288362" cy="32296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D5AB3A-0DF2-7610-547E-C221CE8BED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6697" y="2429082"/>
            <a:ext cx="6768074" cy="32825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6AF8D4-06B8-C7C7-2B98-F3F7872F77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43" y="6501238"/>
            <a:ext cx="7410333" cy="29719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CE1261-E684-319A-B3AE-6F70E47465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499" y="6731609"/>
            <a:ext cx="6768074" cy="297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0420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object 2"/>
          <p:cNvSpPr txBox="1">
            <a:spLocks noGrp="1"/>
          </p:cNvSpPr>
          <p:nvPr>
            <p:ph type="title"/>
          </p:nvPr>
        </p:nvSpPr>
        <p:spPr>
          <a:xfrm>
            <a:off x="5802691" y="529487"/>
            <a:ext cx="15772416" cy="1554685"/>
          </a:xfrm>
          <a:prstGeom prst="rect">
            <a:avLst/>
          </a:prstGeom>
        </p:spPr>
        <p:txBody>
          <a:bodyPr/>
          <a:lstStyle>
            <a:lvl1pPr indent="771525">
              <a:spcBef>
                <a:spcPts val="100"/>
              </a:spcBef>
              <a:defRPr sz="4700" b="1" spc="-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     CONCLUSION</a:t>
            </a:r>
          </a:p>
        </p:txBody>
      </p:sp>
      <p:sp>
        <p:nvSpPr>
          <p:cNvPr id="123" name="object 4"/>
          <p:cNvSpPr txBox="1"/>
          <p:nvPr/>
        </p:nvSpPr>
        <p:spPr>
          <a:xfrm>
            <a:off x="1543456" y="2712722"/>
            <a:ext cx="15641321" cy="5370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457200" indent="-317500" algn="just" defTabSz="457200">
              <a:lnSpc>
                <a:spcPct val="150000"/>
              </a:lnSpc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proposed RAG system provides an effective approach for question answering over course materials.</a:t>
            </a:r>
          </a:p>
          <a:p>
            <a:pPr marL="457200" indent="-317500" algn="just" defTabSz="457200">
              <a:lnSpc>
                <a:spcPct val="150000"/>
              </a:lnSpc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combines the strengths of semantic retrieval and LLM-based text generation.</a:t>
            </a:r>
          </a:p>
          <a:p>
            <a:pPr marL="457200" indent="-317500" algn="just" defTabSz="457200">
              <a:lnSpc>
                <a:spcPct val="150000"/>
              </a:lnSpc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Students can obtain relevant answers without manually searching through multiple documents.</a:t>
            </a:r>
          </a:p>
          <a:p>
            <a:pPr marL="457200" indent="-317500" algn="just" defTabSz="457200">
              <a:lnSpc>
                <a:spcPct val="150000"/>
              </a:lnSpc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Grounding the generated responses in course materials can improve accuracy and reliability.</a:t>
            </a:r>
          </a:p>
          <a:p>
            <a:pPr marL="457200" indent="-317500" algn="just" defTabSz="457200">
              <a:lnSpc>
                <a:spcPct val="150000"/>
              </a:lnSpc>
              <a:buSzPct val="100000"/>
              <a:buFont typeface="Times Roman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system can serve as a useful AI-powered educational assistant for students and instructors.</a:t>
            </a:r>
          </a:p>
          <a:p>
            <a:pPr algn="just" defTabSz="457200">
              <a:lnSpc>
                <a:spcPct val="150000"/>
              </a:lnSpc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 defTabSz="457200">
              <a:lnSpc>
                <a:spcPct val="150000"/>
              </a:lnSpc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id="124" name="object 9" descr="object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12" y="176980"/>
            <a:ext cx="1505529" cy="1924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object 10" descr="object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3291" y="176980"/>
            <a:ext cx="1733551" cy="17716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FUTURE SCOPE"/>
          <p:cNvSpPr txBox="1"/>
          <p:nvPr/>
        </p:nvSpPr>
        <p:spPr>
          <a:xfrm>
            <a:off x="6985287" y="555254"/>
            <a:ext cx="4697471" cy="751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457200">
              <a:defRPr sz="4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FUTURE SCOPE</a:t>
            </a:r>
          </a:p>
        </p:txBody>
      </p:sp>
      <p:pic>
        <p:nvPicPr>
          <p:cNvPr id="128" name="object 9" descr="object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12" y="176980"/>
            <a:ext cx="1505529" cy="1924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object 10" descr="object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3291" y="176980"/>
            <a:ext cx="1733551" cy="1771651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Multimodal Support: Extend the RAG system to understand text, images, tables, and diagrams in course materials.…"/>
          <p:cNvSpPr txBox="1"/>
          <p:nvPr/>
        </p:nvSpPr>
        <p:spPr>
          <a:xfrm>
            <a:off x="1218659" y="2412744"/>
            <a:ext cx="15850682" cy="5461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Multimodal Support:</a:t>
            </a:r>
            <a:r>
              <a:t> Extend the RAG system to understand text, images, tables, and diagrams in course materials.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Personalized Learning:</a:t>
            </a:r>
            <a:r>
              <a:t> Provide customized answers, explanations, and study recommendations based on individual student needs.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Voice-Based Question Answering:</a:t>
            </a:r>
            <a:r>
              <a:t> Allow students to ask questions through voice and receive interactive responses.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LMS Integration:</a:t>
            </a:r>
            <a:r>
              <a:t> Integrate the system with Learning Management Systems to provide a centralized AI-powered learning assistant.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object 2"/>
          <p:cNvSpPr txBox="1">
            <a:spLocks noGrp="1"/>
          </p:cNvSpPr>
          <p:nvPr>
            <p:ph type="title"/>
          </p:nvPr>
        </p:nvSpPr>
        <p:spPr>
          <a:xfrm>
            <a:off x="7055225" y="623815"/>
            <a:ext cx="3472182" cy="665482"/>
          </a:xfrm>
          <a:prstGeom prst="rect">
            <a:avLst/>
          </a:prstGeom>
        </p:spPr>
        <p:txBody>
          <a:bodyPr/>
          <a:lstStyle>
            <a:lvl1pPr indent="10922" defTabSz="393191">
              <a:defRPr sz="4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REFERENCES</a:t>
            </a:r>
          </a:p>
        </p:txBody>
      </p:sp>
      <p:sp>
        <p:nvSpPr>
          <p:cNvPr id="133" name="object 4"/>
          <p:cNvSpPr txBox="1"/>
          <p:nvPr/>
        </p:nvSpPr>
        <p:spPr>
          <a:xfrm>
            <a:off x="1233804" y="2469296"/>
            <a:ext cx="15820392" cy="8474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Wang et al. (2024)</a:t>
            </a:r>
            <a:r>
              <a:t> – </a:t>
            </a:r>
            <a:r>
              <a:rPr i="1"/>
              <a:t>Searching for Best Practices in Retrieval-Augmented Generation.</a:t>
            </a:r>
            <a:r>
              <a:t> EMNLP 2024. The paper studies different RAG strategies to improve retrieval quality and answer generation.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Alawwad et al. (2025)</a:t>
            </a:r>
            <a:r>
              <a:t> – Enhancing Textual Textbook Question Answering with Large Language Models and Retrieval-Augmented Generation. Pattern Recognition. The research demonstrates the effectiveness of RAG and LLMs for answering questions from textbook content.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Li et al. (2025):</a:t>
            </a:r>
            <a:r>
              <a:t> RAG improves educational question answering by providing relevant and reliable answers from course materials, but challenges such as hallucination and incomplete retrieval remain.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Guan et al. (2026)</a:t>
            </a:r>
            <a:r>
              <a:t> – EduChatQA: Curriculum-Aware Hybrid Retrieval and Teacher-Aligned Prompting for Textbook-Grounded Educational Question Answering. The research focuses on improving educational QA through curriculum-aware retrieval and grounded responses.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id="134" name="object 9" descr="object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84" y="221241"/>
            <a:ext cx="1487056" cy="18954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object 10" descr="object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3291" y="342323"/>
            <a:ext cx="1733551" cy="17716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asted-movie.heic" descr="pasted-movie.he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203" y="1651000"/>
            <a:ext cx="10160001" cy="6985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1101</Words>
  <Application>Microsoft Office PowerPoint</Application>
  <PresentationFormat>Custom</PresentationFormat>
  <Paragraphs>105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 Black</vt:lpstr>
      <vt:lpstr>Helvetica</vt:lpstr>
      <vt:lpstr>Helvetica Neue</vt:lpstr>
      <vt:lpstr>Tahoma</vt:lpstr>
      <vt:lpstr>Times New Roman</vt:lpstr>
      <vt:lpstr>Times Roman</vt:lpstr>
      <vt:lpstr>Office Theme</vt:lpstr>
      <vt:lpstr>Design and Evaluation of a Retrieval-Augmented Generation System for Question Answering over Course Materials</vt:lpstr>
      <vt:lpstr>                                   INTRODUCTION</vt:lpstr>
      <vt:lpstr>        LITERATURE  SURVEY</vt:lpstr>
      <vt:lpstr>PowerPoint Presentation</vt:lpstr>
      <vt:lpstr>    OBJECTIVE</vt:lpstr>
      <vt:lpstr>                 EXISTING SYSTEM</vt:lpstr>
      <vt:lpstr>           PROPOSED SYSTEM</vt:lpstr>
      <vt:lpstr>PowerPoint Presentation</vt:lpstr>
      <vt:lpstr>PowerPoint Presentation</vt:lpstr>
      <vt:lpstr>MODULE 1</vt:lpstr>
      <vt:lpstr>MODULE 2</vt:lpstr>
      <vt:lpstr>PowerPoint Presentation</vt:lpstr>
      <vt:lpstr>      CONCLUSION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Srujana Bai</dc:creator>
  <cp:lastModifiedBy>Srujana Bai</cp:lastModifiedBy>
  <cp:revision>2</cp:revision>
  <dcterms:modified xsi:type="dcterms:W3CDTF">2026-09-06T12:34:28Z</dcterms:modified>
</cp:coreProperties>
</file>